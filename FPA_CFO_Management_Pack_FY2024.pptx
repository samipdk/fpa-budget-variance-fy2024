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Digital Payments</c:v>
                </c:pt>
                <c:pt idx="1">
                  <c:v>Wealth Mgmt</c:v>
                </c:pt>
                <c:pt idx="2">
                  <c:v>Insurance</c:v>
                </c:pt>
                <c:pt idx="3">
                  <c:v>Retail Banking</c:v>
                </c:pt>
                <c:pt idx="4">
                  <c:v>Business Lending</c:v>
                </c:pt>
                <c:pt idx="5">
                  <c:v>Digital Banking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8200</c:v>
                </c:pt>
                <c:pt idx="1">
                  <c:v>14800</c:v>
                </c:pt>
                <c:pt idx="2">
                  <c:v>14400</c:v>
                </c:pt>
                <c:pt idx="3">
                  <c:v>50400</c:v>
                </c:pt>
                <c:pt idx="4">
                  <c:v>22800</c:v>
                </c:pt>
                <c:pt idx="5">
                  <c:v>38400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13-46D1-B80A-8B0C6C8D45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Digital Payments</c:v>
                </c:pt>
                <c:pt idx="1">
                  <c:v>Wealth Mgmt</c:v>
                </c:pt>
                <c:pt idx="2">
                  <c:v>Insurance</c:v>
                </c:pt>
                <c:pt idx="3">
                  <c:v>Retail Banking</c:v>
                </c:pt>
                <c:pt idx="4">
                  <c:v>Business Lending</c:v>
                </c:pt>
                <c:pt idx="5">
                  <c:v>Digital Banking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9793</c:v>
                </c:pt>
                <c:pt idx="1">
                  <c:v>16073</c:v>
                </c:pt>
                <c:pt idx="2">
                  <c:v>14544</c:v>
                </c:pt>
                <c:pt idx="3">
                  <c:v>50096</c:v>
                </c:pt>
                <c:pt idx="4">
                  <c:v>20702</c:v>
                </c:pt>
                <c:pt idx="5">
                  <c:v>40099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213-46D1-B80A-8B0C6C8D45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\$#,##0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Marketing</c:v>
                </c:pt>
                <c:pt idx="2">
                  <c:v>Compliance</c:v>
                </c:pt>
                <c:pt idx="3">
                  <c:v>Facilities</c:v>
                </c:pt>
                <c:pt idx="4">
                  <c:v>Personnel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11700</c:v>
                </c:pt>
                <c:pt idx="1">
                  <c:v>4650</c:v>
                </c:pt>
                <c:pt idx="2">
                  <c:v>3590</c:v>
                </c:pt>
                <c:pt idx="3">
                  <c:v>5560</c:v>
                </c:pt>
                <c:pt idx="4">
                  <c:v>52045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36-43CB-9C84-1213577497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Marketing</c:v>
                </c:pt>
                <c:pt idx="2">
                  <c:v>Compliance</c:v>
                </c:pt>
                <c:pt idx="3">
                  <c:v>Facilities</c:v>
                </c:pt>
                <c:pt idx="4">
                  <c:v>Personnel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13280</c:v>
                </c:pt>
                <c:pt idx="1">
                  <c:v>5170</c:v>
                </c:pt>
                <c:pt idx="2">
                  <c:v>3852</c:v>
                </c:pt>
                <c:pt idx="3">
                  <c:v>5610</c:v>
                </c:pt>
                <c:pt idx="4">
                  <c:v>52078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36-43CB-9C84-1213577497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\$#,##0&quot;k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288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CFO Management Pack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— US Financial Services Business Unit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· Variance Analysis · EBITDA Bridge · FY2025 Outlook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Samip Thakuri, Financial Analyst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Date: January 2025  ·  Period: FY2024 (Jan – Dec 2024)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0116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770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Revenue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29626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$151,307k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32004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+1.5% vs budget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06040" y="2743200"/>
            <a:ext cx="20116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79192" y="2770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79192" y="29626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$79,990k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79192" y="32004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+3.2% vs budget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20116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28032" y="2770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28032" y="29626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$71,317k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32004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-$148k vs budget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03720" y="2743200"/>
            <a:ext cx="20116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76872" y="2770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76872" y="29626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47.1%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76872" y="32004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-0.9pp compression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Executive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Financial Performance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91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| US Financial Services Business Unit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502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27432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Revenue Beat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24871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revenue of $151,307k exceeded budget by $2,297k (+1.5%). Digital Payments (+19.4%) and Wealth Management (+8.6%) drove the outperformance, partly offset by Business Lending (-9.2%).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109728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097280"/>
            <a:ext cx="27432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55848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Cost Overrun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627632"/>
            <a:ext cx="24871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costs of $79,990k were +3.2% over budget. Technology (+13.5%, $1,580k) and Marketing (+11.2%, $520k) were the primary drivers. Personnel costs broadly in line (+1.0%).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3056" y="109728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63056" y="1097280"/>
            <a:ext cx="27432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0216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Margin Compression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0216" y="1627632"/>
            <a:ext cx="24871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of $71,317k was $148k below budget (-0.2%). EBITDA margin compressed 0.9pp from budgeted 48.0% to 47.1% — costs grew faster than revenue throughout H2 2024.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P&amp;L Summary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160520"/>
          <a:ext cx="8595360" cy="1143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Budget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Variance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$149,010k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$151,307k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+$2,297k (+1.5%)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✅ Beat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Total Costs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$77,545k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$79,990k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+$2,445k (+3.2%)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❌ Over Budget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EBITDA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$71,465k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$71,317k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-$148k (-0.2%)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🟡 Near Miss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EBITDA Margin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48.0%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47.1%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-0.9pp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❌ Compressed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Revenue Performance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 Variance Analysis — FY2024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91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| US Financial Services Business Unit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502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00584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76072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by Product Line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1353312"/>
            <a:ext cx="3200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60720" y="1353312"/>
            <a:ext cx="54864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70448" y="13898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870448" y="155448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+$1,593k  +19.4%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760720" y="1810512"/>
            <a:ext cx="3200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60720" y="1810512"/>
            <a:ext cx="54864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870448" y="18470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Management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870448" y="201168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+$1,273k  +8.6%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760720" y="2267712"/>
            <a:ext cx="3200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760720" y="2267712"/>
            <a:ext cx="54864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870448" y="23042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870448" y="246888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+$144k  +1.0%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760720" y="2724912"/>
            <a:ext cx="3200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760720" y="2724912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870448" y="27614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870448" y="292608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-$304k  -0.6%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760720" y="3182112"/>
            <a:ext cx="3200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760720" y="3182112"/>
            <a:ext cx="54864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870448" y="32186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Lending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870448" y="338328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-$2,098k  -9.2%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760720" y="3639312"/>
            <a:ext cx="3200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760720" y="3639312"/>
            <a:ext cx="54864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870448" y="36758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870448" y="384048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+$1,699k  +4.4%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74320" y="4297680"/>
            <a:ext cx="8595360" cy="68580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11480" y="4370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691640" y="437083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 and Wealth Management together contributed $2,866k above budget, fully absorbing the Business Lending shortfall of $2,098k and delivering a net revenue beat of +$2,297k (+1.5%). Business Lending requires a FY2025 recovery plan — new volume was 18% below plan.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Cost Performance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Category Variance Analysis — FY2024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91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| US Financial Services Business Unit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502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00584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76072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Commentary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1325880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60720" y="1325880"/>
            <a:ext cx="54864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70448" y="1371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 +13.5%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70448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Unbudgeted cloud infrastructure &amp; vendor license upgrades in H2. Requires cost governance framework.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760720" y="2148840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60720" y="2148840"/>
            <a:ext cx="54864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870448" y="2194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 +11.2%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70448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Digital Payments campaign. Commercially justified given product's +19.4% revenue beat.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760720" y="2971800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760720" y="2971800"/>
            <a:ext cx="54864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870448" y="3017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 +7.3%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70448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FDIC reporting requirements + 3 unbudgeted external reviews. Structural pressure ongoing.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760720" y="3794760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760720" y="3794760"/>
            <a:ext cx="54864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870448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 +1.6%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870448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additional headcount in Digital Payments &amp; Wealth Mgmt, offset by delayed Business Lending hires.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EBITDA &amp; Margin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Compression Drivers — FY2024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91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| US Financial Services Business Unit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502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64008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143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Budget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3990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$71,465k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18013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target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105156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77440" y="1051560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14600" y="1143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Actual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14600" y="13990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$71,317k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14600" y="18013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-$148k vs budget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80560" y="105156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0" y="1051560"/>
            <a:ext cx="64008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17720" y="1143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Budget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13990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48.0%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17720" y="18013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target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65392" y="1051560"/>
            <a:ext cx="230428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65392" y="1051560"/>
            <a:ext cx="64008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02552" y="11430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Actual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02552" y="1399032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47.1%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02552" y="1801368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-0.9pp compression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Bridge — Budget to Actual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530352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Impact ($000s)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Driver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EBITDA Budget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$71,465k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+ Revenue Beat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+$2,297k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Digital Payments &amp; Wealth Mgmt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– Technology Overrun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-$1,580k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Cloud infra + vendor licenses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– Marketing Overrun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-$520k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Digital Payments campaign H2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– Compliance Overrun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-$262k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FDIC reporting &amp; external reviews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– Other Costs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-$83k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Personnel &amp; Facilities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EBITDA Actual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$71,317k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-$148k vs budget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5760720" y="2377440"/>
            <a:ext cx="3200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897880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Analysis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897880" y="27889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margin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Excluding unbudgeted Digital Payments campaign spend ($520k) and cloud infrastructure overruns ($1,580k), EBITDA margin would have been ~47.9% — broadly in line with the 48.0% budget.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costs are now the second-largest cost category. Without a cost governance framework, margin is at structural risk in FY2025.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1148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+1.5% but costs grew +3.2% — the gap between these two rates is the sole cause of margin compression. Normalised margin was ~47.9%, just 0.1pp below budget.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FY2025 Outlook &amp; Risks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Outlook · Cost Risks · Management Actions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91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| US Financial Services Business Unit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502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Outlook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54864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13990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02336" y="15727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20%+ growth — high confidence on current trajectory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847088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847088"/>
            <a:ext cx="54864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1874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Management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" y="204825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+6% — more challenging market conditions expected in 2025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322576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322576"/>
            <a:ext cx="54864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6" y="2350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Lending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252374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plan required — target return to budget by Q2 2025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798064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798064"/>
            <a:ext cx="54864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2336" y="28254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2336" y="2999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— NIM pressure expected to ease as Fed begins rate cut cycle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0" y="1051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Actions Required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1371600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1371600"/>
            <a:ext cx="34747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0" y="150876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14081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Cost Governance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83480" y="1618488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cloud cost governance framework before FY2025 budget is set. Tech costs grew 13.5% over budget — structural risk if unchecked.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0" y="2039112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0" y="2039112"/>
            <a:ext cx="34747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0" y="21762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83480" y="20756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Lending Recovery Plan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83480" y="2286000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rate repricing strategy and focus on higher-quality SME segment. Target: return to budget by Q2 2025.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0" y="2706624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0" y="2706624"/>
            <a:ext cx="34747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0" y="28437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83480" y="2743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FDIC Compliance Budget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83480" y="2953512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+8% increase in compliance budget for FY2025 to reflect structural FDIC reporting expansion.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0" y="3374136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572000" y="3374136"/>
            <a:ext cx="34747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0" y="351129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983480" y="3410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 Investment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83480" y="3621024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incremental Technology and Marketing investment for Digital Payments — product is tracking well ahead of long-range plan.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0" y="4041648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72000" y="4041648"/>
            <a:ext cx="34747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0" y="41788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983480" y="40782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Margin Target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83480" y="4288536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48.0% EBITDA margin target. Without active tech cost management, margin risks compressing to ~46.5% on current trajectories.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Financial Services Business Unit — Key Takeaways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32104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85623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beat budget by +1.5% ($2,297k) — Digital Payments (+19.4%) and Wealth Management (+8.6%) drove outperformance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832104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4963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47802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grew +3.2% vs budget — Technology (+13.5%) and Marketing (+11.2%) are the primary overrun drivers requiring immediate governance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26664"/>
            <a:ext cx="832104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11810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09981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compressed 0.9pp to 47.1% — normalised margin of ~47.9% confirms this is a cost management issue, not a revenue problem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48456"/>
            <a:ext cx="832104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7398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72160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management actions identified — technology cost governance and Business Lending recovery plan are the most critical for FY2025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Samip Thakuri, Financial Analyst  ·  samipthakuri@gmail.com  ·  Wichita, KS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1042</Words>
  <Application>Microsoft Office PowerPoint</Application>
  <PresentationFormat>On-screen Show (16:9)</PresentationFormat>
  <Paragraphs>180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FP&amp;A CFO Management Pack FY2024</dc:title>
  <dc:subject>PptxGenJS Presentation</dc:subject>
  <dc:creator>Samip Thakuri</dc:creator>
  <cp:lastModifiedBy>samip thakuri</cp:lastModifiedBy>
  <cp:revision>1</cp:revision>
  <dcterms:created xsi:type="dcterms:W3CDTF">2026-04-14T19:11:35Z</dcterms:created>
  <dcterms:modified xsi:type="dcterms:W3CDTF">2026-04-14T19:13:30Z</dcterms:modified>
</cp:coreProperties>
</file>